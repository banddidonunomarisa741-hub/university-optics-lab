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使用整套课件时保持目录结构不变。点击蓝色链接打开相应本地交互页面。三维图由 Blender 4.5.13 Cycles 渲染；条纹纹理由解析模型计算。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前12项为大学物理常见核心主题，第13、14项为现代光学入门拓展。具体院校课程取舍应按教学大纲调整。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近轴是限制角度的小量近似，不是全部几何光学的前提。无吸收光学中能量守恒；显示归一化不意味着总光通量固定。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默认参数：{"lambda":550,"phase":0,"ratio":1}
相位差决定两列光场在同一点的叠加方式。φ=0 时振幅相加，φ=π 时相消。
强度是时间平均能流，不能把振幅直接当强度；等偏振波的强度含交叉项 2ρcosφ。
把 φ 从 0 调到 π，再改变 ρ，可观察“完全相消”只在等振幅时出现。
模型条件：
量纲采用 SI；图中空间尺寸与动画速度为教学缩放。
数值为双精度计算并归一化显示，实际测量需按仪器分辨率重新估计不确定度。
两列同频、同偏振简谐平面波；ρ=A₂/A₁。
问题答案：I/I₁=2(1+cosφ)，φ=0 为 4，φ=π 为 0；中间连续变化。这里 I₁ 是第一列光波的平均强度。
来源：
OpenStax · University Physics Vol. 3 · 3 2 mathematics of interference https://openstax.org/books/university-physics-volume-3/pages/3-2-mathematics-of-interference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默认参数：{"n1":1,"n2":1.5,"angle":35}
界面平移对称性使切向波矢连续，因此频率保持不变而相速和波长改变。
当 n₁&gt;n₂ 且 θ₁&gt;θc 时不存在传播折射波，但第二介质仍有指数衰减的倏逝场。
布儒斯特角属于振幅边界条件的特殊结果；本模块首先关注折射角、临界角和反射率趋势。
模型条件：
量纲采用 SI；图中空间尺寸与动画速度为教学缩放。
数值为双精度计算并归一化显示，实际测量需按仪器分辨率重新估计不确定度。
平面界面、单色光、各向同性非磁介质；角度从法线量起。
问题答案：θc=arcsin(1/1.50)=41.8°，40°&lt;θc，因此不会全反射。
来源：
OpenStax · University Physics Vol. 3 · 1 3 refraction https://openstax.org/books/university-physics-volume-3/pages/1-3-refraction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默认参数：{"f":100,"u":300,"h":30}
薄透镜把入射波前的曲率改变为新的会聚或发散曲率。符号约定决定实像、虚像与倒立正立的判断。
在近轴条件下，焦距不依赖光线高度。u 接近 f 时像距的绝对值趋于无穷大；是否近轴仍取决于光线与光轴夹角，而非仅由物距是否接近焦距决定。
拖动物距并同时记录 v、m，比死记“二倍焦距”更能建立函数关系。
模型条件：
量纲采用 SI；图中空间尺寸与动画速度为教学缩放。
数值为双精度计算并归一化显示，实际测量需按仪器分辨率重新估计不确定度。
薄透镜、近轴光线、物距 u&gt;0；忽略厚度与球差。
问题答案：v=fu/(u−f)=150 mm，m=−v/u=−0.50，得到倒立缩小实像。
来源：
OpenStax · University Physics Vol. 3 · 2 4 thin lenses https://openstax.org/books/university-physics-volume-3/pages/2-4-thin-lenses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默认参数：{"lambda":550,"d":0.25,"a":0.05,"L":1.5,"coherence":1,"phase":0}
两缝到屏幕的路径差 δ≈d sinθ；相位差 2πδ/λ 把几何差转为亮暗条纹。
条纹间距随 λ、L 增大而增大，随 d 增大而减小；有限缝宽决定中央包络的宽度。
改变一个参数并固定其余参数，导出三组数据，用 Δy 对 λL/d 作线性检验。
模型条件：
量纲采用 SI；图中空间尺寸与动画速度为教学缩放。
数值为双精度计算并归一化显示，实际测量需按仪器分辨率重新估计不确定度。
远场或傍轴小角度；双缝等幅、同偏振；有限缝宽用 sinc² 包络修正。
Iₛ 为单缝轴上强度，图像以完全相干相长时的 4Iₛ 归一化。γ=0 表示互不相干，γ=1 表示完全相干。
相位采用 sinθ=x/√(L²+x²)；条纹间距读数为近轴值。角强度模型不含平屏投影因子。
问题答案：Δy=λL/d=5.06×10⁻³ m=5.06 mm。
来源：
OpenStax · University Physics Vol. 3 · 4 3 double slit diffraction https://openstax.org/books/university-physics-volume-3/pages/4-3-double-slit-diffraction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默认参数：{"lambda":550,"n0":1,"n1":1.38,"n2":1.52,"t":100}
每次在膜内往返增加相位 δ=4πn₁t/λ。把所有阶次反射的复振幅相加，得到页面上的反射率表达式；不要再额外重复加入一次半波损失。
增大膜厚会让反射率随相位周期变化；只有相邻界面逐一匹配（n₀=n₁=n₂）时，相关界面的反射振幅才同时为零。
区分等倾与等厚：本模块固定观察方向并改变 t，牛顿环模块则让 t 随半径变化。
模型条件：
严格法向入射、平行薄膜、无吸收无磁介质；波长指真空波长。
保留所有阶次内反射，用复振幅的几何级数求和；反射相位已经包含在 rᵢⱼ 的正负号中。
R、T 是能量比例，此模型满足 R+T=1。无限厚基底不计算背面回波。
问题答案：正入射近似下 Δφ 增加 4πn·300 nm/λ；代入 n=1.5、λ=550 nm，约为 3.27π（10.3 rad）。
来源：
OpenStax · University Physics Vol. 3 · 3 4 interference in thin films https://openstax.org/books/university-physics-volume-3/pages/3-4-interference-in-thin-films
University of Toronto · Single Layer Dielectric Thin Film https://www.physics.utoronto.ca/~phy326/film/film.htm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默认参数：{"lambda":550,"R":1,"n":1,"gap":0}
球面透镜与平板之间的膜厚随半径平方增长，使反射光出现同心等厚干涉环。
空气膜中心接触时，一束反射光发生 π 相位跃迁，中心反射斑为暗；透射观察时明暗互补。
测 r_m² 而不是 r_m：斜率给出 λR/n，可用多级环做线性拟合。
模型条件：
平凸透镜与平板在中心接触；薄隙介质折射率小于两侧玻璃，存在一次相对 π 反射跃迁。
近轴膜厚 t≈r²/(2R)，使用两反射波等幅的高可见度近似。
图样为 0–1 明暗对比映射。透射显示互补调制，不能直接解释为绝对能量透射率；真实透射对比度与界面反射率有关。
问题答案：r₁₀=√(10λR)=2.35 mm（空气隙 n=1，近轴）。
来源：
OpenStax · University Physics Vol. 3 · 3 4 interference in thin films https://openstax.org/books/university-physics-volume-3/pages/3-4-interference-in-thin-films
University of Alberta · Interference in Thin Films https://sites.ualberta.ca/~pogosyan/teaching/PHYS_130/FALL_2010/lectures/lect34/lecture34.html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默认参数：{"lambda":550,"delta":200,"f":150}
分束器让同一光源的两束光分别往返两臂，再合并。沿光轴的镜面位移 Δx 使中心光程差改变 2Δx。
对于平行等效反射面，不同观察方向的光程差为 Δ cosθ。相同 θ 的方向形成一个圆锥，经过观察透镜呈现同心圆环。
改变 Δ 会让环纹移动；改变 f 会按比例改变环的物理半径。播放功能缓慢扫描光程差，用于观察条纹越过参考点。
模型条件：
理想已补偿两臂、等强单色相干光。两等效反射镜互相平行，观察等倾圆环。
Δ 是光轴方向的往返光程差，控件单位 μm；不是单程镜面位移。
θ 是观察光线相对光轴的倾角，不是镜面倾斜角；焦距 f 将角度映射到观察屏半径 r。
以 Δ=0 为相长参考端口；另一个互补输出端口相位可相反。
问题答案：光程差改变 2×0.275=0.550 μm，恰好一个波长，因此中心完成一次明暗周期。控件 Δ 应增加 0.550 μm。
来源：
OpenStax · University Physics Vol. 3 · 3 5 the michelson interferometer https://openstax.org/books/university-physics-volume-3/pages/3-5-the-michelson-interferometer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默认参数：{"lambda":550,"a":0.1,"L":1.5}
单缝内不同位置的次波相互干涉，中央主极大宽度约为两侧第一暗纹间距。
减小 a 或增大 λ 会让角分布变宽；孔径有限时衍射不会突然消失。
观察 sinc² 包络并读取第一零点，检验 y₁≈λL/a。
模型条件：
量纲采用 SI；图中空间尺寸与动画速度为教学缩放。
数值为双精度计算并归一化显示，实际测量需按仪器分辨率重新估计不确定度。
夫琅禾费远场、矩形单缝、均匀照明；sinθ≈tanθ≈y/L 仅在小角度。
问题答案：y₁≈λL/a=5.0 mm，角度约 0.286°。
来源：
OpenStax · University Physics Vol. 3 · 4 1 single slit diffraction https://openstax.org/books/university-physics-volume-3/pages/4-1-single-slit-diffraction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默认参数：{"lambda":550,"d":2,"a":0.5,"N":20,"L":1}
多缝叠加把相位差累积为窄主峰；缝数 N 越多，峰越尖，分辨率越高。
光栅常数 d 决定级次位置，缝宽 a 通过单缝包络抑制或缺失某些级次。
先用光栅方程预测角度，再用峰位和峰宽估计实际分辨能力。
模型条件：
量纲采用 SI；图中空间尺寸与动画速度为教学缩放。
数值为双精度计算并归一化显示，实际测量需按仪器分辨率重新估计不确定度。
N 条等距同相狭缝；阵列因子给出主极大，矩形缝宽 a 再乘单缝 sinc² 包络；入射角从法线量起。
问题答案：m_max=floor(d/λ)=3；三级满足 sinθ=0.9，仍可传播。
来源：
OpenStax · University Physics Vol. 3 · 4 4 diffraction gratings https://openstax.org/books/university-physics-volume-3/pages/4-4-diffraction-gratings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默认参数：{"lambda":550,"D":2,"L":1,"separation":69}
圆孔的二维傅里叶变换给出艾里斑，中心亮斑外是同心暗环与弱旁瓣。
q=πD sinθ/λ 是无量纲径向坐标；第一零点对应 q≈3.8317，得到 1.22 λ/D。
比较双点角距与 θ_R 可直观看到“可分辨”是判据而非绝对开关。
模型条件：
无像差圆形孔径、均匀照明、标量傍轴夫琅禾费模型。
两个等强非相干点源，各自艾里强度相加；采用 I=(I₁+I₂)/2，以双点重合时的轴上光强归一化。
二维图按各点源的径向距离独立计算；曲线是通过两点源中心的水平剖面。
1.21967λ/D 来自 J₁ 的第一正零点。瑞利判据是一种分辨约定，不是信息的硬阈值。
问题答案：θ_R=1.22λ/D=3.36×10⁻⁴ rad≈69.3 arcsec。
来源：
OpenStax · University Physics Vol. 3 · 4 5 circular apertures and resolution https://openstax.org/books/university-physics-volume-3/pages/4-5-circular-apertures-and-resolution
NIST DLMF · Bessel function definitions https://dlmf.nist.gov/10.2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默认参数：{"theta":45,"mid":45,"three":0}
偏振片只保留电场在透光轴方向的投影，投影振幅平方产生 cos²θ。
若入射光是非偏振光，第一片理想透射强度约为 I_in/2；后续偏振片才直接遵循马吕斯定律。
三片偏振片在正交首尾片之间插入 45° 中间片时会重新获得透射光。
模型条件：
理想偏振片；第一片透光轴为 0°。所有读数相对于第一片之后的 I₀。
若从非偏振入射光 Iᵢₙ 开始，理想第一片使 I₀=Iᵢₙ/2。
忽略实际消光比与额外吸收。
问题答案：I=I₁cos²60°=2 W·m⁻²。若 8 是非偏振入射光强，还需先乘第一片透过率。
来源：
OpenStax · University Physics Vol. 3 · 1 7 polarization https://openstax.org/books/university-physics-volume-3/pages/1-7-polarization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默认参数：{"alpha":45,"retardance":90}
波片不靠吸收削弱某个方向，而是让正交分量获得相位差 δ。
入射线偏振与快轴成 45° 且 δ=π/2 时，两分量等幅正交，输出为圆偏振。
δ=180° 时仍为线偏振，方向关于波片轴反射；相对于原入射方向的转角大小为 2α。只有 α=45° 或等效取向、且 δ=90° 或 270° 时才得到圆偏振。
模型条件：
完全线偏振的单色入射光、理想无损双折射延迟片。
坐标轴沿波片的快轴、慢轴；α 是入射偏振方向与快轴夹角。
图中采用 +δ 的相位约定；改变观察方向或时间符号会改变旋向命名，所以本页不标左右旋。
问题答案：两正交分量振幅相等，且相位差 π/2；电场端点在横截面上匀速转动。
来源：
MIT 8.03SC · Lecture 18: Wave Plates https://ocw.mit.edu/courses/8-03sc-physics-iii-vibrations-and-waves-fall-2016/resources/mit8_03scf16_lec18/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默认参数：{"lambda":532,"w0":0.3,"z":1}
高斯束在束腰处最细，离开束腰后按瑞利长度 z_R 展开；紧聚焦意味着更快发散。
z_R 与 w₀² 成正比，是判断“近场/远场”的自然尺度。
对比同一 λ 下不同 w₀ 的束宽和发散角，建立空间局域与角度扩展的互易关系。
模型条件：
量纲采用 SI；图中空间尺寸与动画速度为教学缩放。
数值为双精度计算并归一化显示，实际测量需按仪器分辨率重新估计不确定度。
理想 TEM₀₀ 基模；w 为 1/e² 强度半径；傍轴传播。
问题答案：z_R=πw₀²/λ≈1.24 m。
来源：
MIT OpenCourseWare · Optics 2.71 · Lecture notes https://ocw.mit.edu/courses/2-71-optics-spring-2009/resources/lecture-notes/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默认参数：{"lambda":550,"a":0.1,"f":200}
透镜后焦面把入射场的空间频率分量按角度展开，孔径函数的傅里叶变换决定衍射图。
孔径越宽，中央频谱斑越窄；物面局部细节对应更高的空间频率。
用单缝或矩形孔改变 a，读取后焦面首零点，验证 x₁≈λf/a。
模型条件：
量纲采用 SI；图中空间尺寸与动画速度为教学缩放。
数值为双精度计算并归一化显示，实际测量需按仪器分辨率重新估计不确定度。
薄透镜、后焦面观察、标量夫琅禾费近似；矩形孔径与均匀入射。
展示一维矩形振幅孔径的横向 sinc² 剖面；长边方向不建模。空间频率 νₓ=x/(λf)。
问题答案：x₁≈λf/a=0.11 mm。
来源：
MIT OpenCourseWare · Optics 2.71 · Lecture notes https://ocw.mit.edu/courses/2-71-optics-spring-2009/resources/lecture-notes/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此页为真实 Blender Cycles 固定渲染，1440×900，96采样，降噪。不是完整的电磁波数值传播仿真。可编辑 .blend 源文件与建模脚本见 blender 目录。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此页为真实 Blender Cycles 固定渲染，1440×900，96采样，降噪。不是完整的电磁波数值传播仿真。可编辑 .blend 源文件与建模脚本见 blender 目录。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此页为真实 Blender Cycles 固定渲染，1440×900，96采样，降噪。不是完整的电磁波数值传播仿真。可编辑 .blend 源文件与建模脚本见 blender 目录。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这是独立的测量示例，不是模拟器制造的测量误差。可用跨越多个条纹的距离除以条纹数，降低位置读数对间距的影响。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答案在下一页；先让学生口头给出理由，再打开相应模块调参。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建议讲授前阅读 teaching-guide.md 的4×45分钟安排。14项实验不必在一堂课全部展开，可按教材选用。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不以“211”作为唯一教学大纲。每个学校教材的内容范围、深度和课时不同，需依据本校教学要求采用。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double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../index.html#waves" TargetMode="External"/><Relationship Id="rId2" Type="http://schemas.openxmlformats.org/officeDocument/2006/relationships/hyperlink" Target="../index.html#snell" TargetMode="External"/><Relationship Id="rId3" Type="http://schemas.openxmlformats.org/officeDocument/2006/relationships/hyperlink" Target="../index.html#lens" TargetMode="External"/><Relationship Id="rId4" Type="http://schemas.openxmlformats.org/officeDocument/2006/relationships/hyperlink" Target="../index.html#double" TargetMode="External"/><Relationship Id="rId5" Type="http://schemas.openxmlformats.org/officeDocument/2006/relationships/hyperlink" Target="../index.html#film" TargetMode="External"/><Relationship Id="rId6" Type="http://schemas.openxmlformats.org/officeDocument/2006/relationships/hyperlink" Target="../index.html#newton" TargetMode="External"/><Relationship Id="rId7" Type="http://schemas.openxmlformats.org/officeDocument/2006/relationships/hyperlink" Target="../index.html#michelson" TargetMode="External"/><Relationship Id="rId8" Type="http://schemas.openxmlformats.org/officeDocument/2006/relationships/hyperlink" Target="../index.html#single" TargetMode="External"/><Relationship Id="rId9" Type="http://schemas.openxmlformats.org/officeDocument/2006/relationships/hyperlink" Target="../index.html#grating" TargetMode="External"/><Relationship Id="rId10" Type="http://schemas.openxmlformats.org/officeDocument/2006/relationships/hyperlink" Target="../index.html#circular" TargetMode="External"/><Relationship Id="rId11" Type="http://schemas.openxmlformats.org/officeDocument/2006/relationships/hyperlink" Target="../index.html#polarization" TargetMode="External"/><Relationship Id="rId12" Type="http://schemas.openxmlformats.org/officeDocument/2006/relationships/hyperlink" Target="../index.html#waveplate" TargetMode="External"/><Relationship Id="rId13" Type="http://schemas.openxmlformats.org/officeDocument/2006/relationships/hyperlink" Target="../index.html#gaussian" TargetMode="External"/><Relationship Id="rId14" Type="http://schemas.openxmlformats.org/officeDocument/2006/relationships/hyperlink" Target="../index.html#fourier" TargetMode="Externa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waves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snell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lens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double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film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newton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michelson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single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grating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circular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polarization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waveplate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gaussian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fourier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double" TargetMode="Externa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snell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../index.html#polarization" TargetMode="Externa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../index.html#doub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stax.org/books/university-physics-volume-3/pages/1-introduction" TargetMode="External"/><Relationship Id="rId2" Type="http://schemas.openxmlformats.org/officeDocument/2006/relationships/hyperlink" Target="https://ocw.mit.edu/courses/2-71-optics-spring-2009/resources/lecture-notes/" TargetMode="External"/><Relationship Id="rId3" Type="http://schemas.openxmlformats.org/officeDocument/2006/relationships/hyperlink" Target="https://dlmf.nist.gov/10.2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../index.html#doub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assets\renders\double-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548640"/>
            <a:ext cx="73152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79D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18288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从光场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到成像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749808" y="36576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BCE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个参数化实验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BCE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几何光学、干涉、衍射、偏振与拓展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4754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79D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先预测，再观察，用模型解释。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9808" y="5596128"/>
            <a:ext cx="37490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13" name="Text 10">
            <a:hlinkClick r:id="rId2" tooltip=""/>
          </p:cNvPr>
          <p:cNvSpPr/>
          <p:nvPr/>
        </p:nvSpPr>
        <p:spPr>
          <a:xfrm>
            <a:off x="896112" y="565099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进入光学实验室  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课程地图：从传播机制到定量判断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7276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371600" y="15727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光波与相位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波动基础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7627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1371600" y="21762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折射与全反射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4780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几何光学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77977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1371600" y="27797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薄透镜成像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081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几何光学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1371600" y="3383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杨氏双缝干涉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6850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光的干涉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98678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8">
            <a:hlinkClick r:id="rId5" tooltip=""/>
          </p:cNvPr>
          <p:cNvSpPr/>
          <p:nvPr/>
        </p:nvSpPr>
        <p:spPr>
          <a:xfrm>
            <a:off x="1371600" y="39867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薄膜干涉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2885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光的干涉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5902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21">
            <a:hlinkClick r:id="rId6" tooltip=""/>
          </p:cNvPr>
          <p:cNvSpPr/>
          <p:nvPr/>
        </p:nvSpPr>
        <p:spPr>
          <a:xfrm>
            <a:off x="1371600" y="45902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牛顿环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892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光的干涉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19379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4">
            <a:hlinkClick r:id="rId7" tooltip=""/>
          </p:cNvPr>
          <p:cNvSpPr/>
          <p:nvPr/>
        </p:nvSpPr>
        <p:spPr>
          <a:xfrm>
            <a:off x="1371600" y="51937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迈克耳孙干涉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4955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光的干涉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157276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7">
            <a:hlinkClick r:id="rId8" tooltip=""/>
          </p:cNvPr>
          <p:cNvSpPr/>
          <p:nvPr/>
        </p:nvSpPr>
        <p:spPr>
          <a:xfrm>
            <a:off x="7086600" y="15727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单缝衍射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86600" y="1874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光的衍射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217627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500" dirty="0"/>
          </a:p>
        </p:txBody>
      </p:sp>
      <p:sp>
        <p:nvSpPr>
          <p:cNvPr id="32" name="Text 30">
            <a:hlinkClick r:id="rId9" tooltip=""/>
          </p:cNvPr>
          <p:cNvSpPr/>
          <p:nvPr/>
        </p:nvSpPr>
        <p:spPr>
          <a:xfrm>
            <a:off x="7086600" y="21762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光栅与分辨本领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86600" y="24780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光的衍射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277977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3">
            <a:hlinkClick r:id="rId10" tooltip=""/>
          </p:cNvPr>
          <p:cNvSpPr/>
          <p:nvPr/>
        </p:nvSpPr>
        <p:spPr>
          <a:xfrm>
            <a:off x="7086600" y="27797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圆孔与瑞利判据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86600" y="3081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光的衍射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33832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500" dirty="0"/>
          </a:p>
        </p:txBody>
      </p:sp>
      <p:sp>
        <p:nvSpPr>
          <p:cNvPr id="38" name="Text 36">
            <a:hlinkClick r:id="rId11" tooltip=""/>
          </p:cNvPr>
          <p:cNvSpPr/>
          <p:nvPr/>
        </p:nvSpPr>
        <p:spPr>
          <a:xfrm>
            <a:off x="7086600" y="3383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马吕斯定律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86600" y="36850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偏振光学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98678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500" dirty="0"/>
          </a:p>
        </p:txBody>
      </p:sp>
      <p:sp>
        <p:nvSpPr>
          <p:cNvPr id="41" name="Text 39">
            <a:hlinkClick r:id="rId12" tooltip=""/>
          </p:cNvPr>
          <p:cNvSpPr/>
          <p:nvPr/>
        </p:nvSpPr>
        <p:spPr>
          <a:xfrm>
            <a:off x="7086600" y="39867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波片与椭圆偏振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086600" y="42885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偏振光学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45902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500" dirty="0"/>
          </a:p>
        </p:txBody>
      </p:sp>
      <p:sp>
        <p:nvSpPr>
          <p:cNvPr id="44" name="Text 42">
            <a:hlinkClick r:id="rId13" tooltip=""/>
          </p:cNvPr>
          <p:cNvSpPr/>
          <p:nvPr/>
        </p:nvSpPr>
        <p:spPr>
          <a:xfrm>
            <a:off x="7086600" y="45902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高斯光束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086600" y="4892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现代光学拓展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519379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500" dirty="0"/>
          </a:p>
        </p:txBody>
      </p:sp>
      <p:sp>
        <p:nvSpPr>
          <p:cNvPr id="47" name="Text 45">
            <a:hlinkClick r:id="rId14" tooltip=""/>
          </p:cNvPr>
          <p:cNvSpPr/>
          <p:nvPr/>
        </p:nvSpPr>
        <p:spPr>
          <a:xfrm>
            <a:off x="7086600" y="51937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u="sng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傅里叶光学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086600" y="54955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现代光学拓展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选择模型，先检查尺度与近似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367588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几何光学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77824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 远小于结构尺度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77824" y="3493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Snell 定律、光线和近轴成像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4462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适合判断物像位置；不能给出衍射极限。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44568" y="1737360"/>
            <a:ext cx="367588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波动光学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764024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光程差与相位可比较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64024" y="3493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相干叠加、标量衍射和干涉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4024" y="4462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应检查远场 / 后焦面条件，明确光强归一化。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30768" y="1737360"/>
            <a:ext cx="367588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0224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矢量光学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50224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保留电场振动方向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50224" y="3493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偏振投影、Jones 延迟片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50224" y="4462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延迟片改变相位；偏振片改变透射分量。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波动基础 · 实验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光波与相位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wa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相对平均光强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I₁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合振幅 / A₁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光频率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545.08 THz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E=E₀ cos(k·r−ωt+φ)；I/I₁=1+ρ²+2ρ cosφ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相位差决定两列光场在同一点的叠加方式。φ=0 时振幅相加，φ=π 时相消。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先预测：固定 ρ=1，φ 从 0 调到 π，强度经过哪些极值？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几何光学 · 实验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折射与全反射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sn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折射角 θₜ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22.481 °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临界角 θc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非偏振反射率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4.3058 %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n₁ sinθ₁=n₂ sinθ₂；sinθc=n₂/n₁（n₁&gt;n₂）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界面平移对称性使切向波矢连续，因此频率保持不变而相速和波长改变。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先预测：玻璃 n₁=1.50 入射空气，θ₁=40° 是否全反射？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几何光学 · 实验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薄透镜成像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l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像距 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mm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横向放大率 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-0.5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像的性质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倒立实像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1/f=1/u+1/v；m=−v/u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薄透镜把入射波前的曲率改变为新的会聚或发散曲率。符号约定决定实像、虚像与倒立正立的判断。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先预测：f=100 mm、u=300 mm 时像距和放大率是多少？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光的干涉 · 实验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杨氏双缝干涉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dou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近轴条纹间距 Δx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mm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包络首零点 |x|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16.501 mm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局部条纹可见度 γ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100 %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I/(4Iₛ) = sinc²β · [1+γ cos(2α+φ)]/2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β=πa sinθ/λ，α=πd sinθ/λ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Δx ≈ λL/d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两缝到屏幕的路径差 δ≈d sinθ；相位差 2πδ/λ 把几何差转为亮暗条纹。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先预测：λ=633 nm、L=2.00 m、d=0.250 mm，条纹间距是多少？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光的干涉 · 实验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薄膜干涉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能量反射率 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0.012602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能量透射率 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0.9874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膜厚周期 Δt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199.28 nm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= (r₀₁²+r₁₂²+2r₀₁r₁₂cosδ) 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(1+r₀₁²r₁₂²+2r₀₁r₁₂cosδ)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rᵢⱼ=(nᵢ−nⱼ)/(nᵢ+nⱼ)，δ=4πn₁t/λ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每次在膜内往返增加相位 δ=4πn₁t/λ。把所有阶次反射的复振幅相加，得到页面上的反射率表达式；不要再额外重复加入一次半波损失。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先预测：将膜厚从 300 nm 增到 600 nm，反射相位变化多少？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光的干涉 · 实验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new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反射首暗环 r₁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0.74162 mm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相邻暗环 Δ(r²)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0.55 mm²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中心归一化光强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t(r)≈r²/(2R)；反射暗环近轴：r_m²≈mλR/n（中心接触时为暗）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球面透镜与平板之间的膜厚随半径平方增长，使反射光出现同心等厚干涉环。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先预测：R=1.0 m、λ=550 nm，m=10 暗环半径约多少？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光的干涉 · 实验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迈克耳孙干涉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michel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中心相对光强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0.17257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移过一条纹的镜位移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275 nm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中心干涉级次 Δ/λ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363.64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I/Iₘₐₓ = [1+cos(2πΔ cosθ/λ)]/2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cosθ = f/√(f²+r²)，Δ=2(l₁−l₂)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镜面每移动 λ/2，中心移过一条纹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分束器让同一光源的两束光分别往返两臂，再合并。沿光轴的镜面位移 Δx 使中心光程差改变 2Δx。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先预测：λ=550 nm，镜面沿光轴移动 0.275 μm，中心移过多少条纹？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光的衍射 · 实验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单缝衍射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首暗纹位置 |x₁|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8.2501 mm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中央主极大宽度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16.5 mm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近轴角半宽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mrad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I(θ)=I₀[sinc(πa sinθ/λ)]²；暗纹 a sinθ=mλ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单缝内不同位置的次波相互干涉，中央主极大宽度约为两侧第一暗纹间距。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先预测：λ=500 nm、a=0.10 mm、L=1.0 m，第一暗纹距中心多远？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光的衍射 · 实验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光栅与分辨本领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gr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一级主峰角 θ₁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15.962 °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一级分辨本领 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一级最小 Δλ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27.5 nm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d(sinθ_m−sinθ_i)=mλ；分辨本领 R=λ/Δλ≈mN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多缝叠加把相位差累积为窄主峰；缝数 N 越多，峰越尖，分辨率越高。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先预测：λ=600 nm、d=2 μm、正入射，最高整数级次是多少？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光的衍射 · 实验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圆孔与瑞利判据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单点艾里斑半径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0.33541 mm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瑞利角 θR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69.183 角秒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双点角距 / 瑞利角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0.99735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I(θ)∝[2J₁(q)/q]²；q=πD sinθ/λ；瑞利角 θ_R≈1.22λ/D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圆孔的二维傅里叶变换给出艾里斑，中心亮斑外是同心暗环与弱旁瓣。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先预测：λ=550 nm、D=2.0 mm，瑞利角约多少？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偏振光学 · 实验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马吕斯定律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polar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透射强度 I / I₀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透射振幅比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0.70711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中间偏振片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已移除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两片：I/I₀ = cos²θ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三片：I/I₀ = cos²β · cos²(θ−β)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I₀ 定义为第一片之后的线偏振光强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偏振片只保留电场在透光轴方向的投影，投影振幅平方产生 cos²θ。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先预测：第一片之后 I₁=8 W·m⁻²，分析器与其夹角 60°，输出多少？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偏振光学 · 实验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波片与椭圆偏振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wave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偏振状态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圆偏振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 / 长半轴比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椭圆率角 χ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°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E快/E₀ = cosα · cos(ωt)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E慢/E₀ = sinα · cos(ωt+δ)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sin(2χ)=sin(2α)sinδ，短/长轴比=|tanχ|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波片不靠吸收削弱某个方向，而是让正交分量获得相位差 δ。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先预测：为什么 α=45°、δ=90° 得到圆偏振？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现代光学拓展 · 实验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高斯光束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gauss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瑞利长度 zR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0.53147 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截面半径 w(z)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0.63924 mm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远场发散半角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0.56447 mrad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w(z)=w₀√[1+(z/z_R)²]；z_R=πw₀²/λ；θ≈λ/(πw₀)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高斯束在束腰处最细，离开束腰后按瑞利长度 z_R 展开；紧聚焦意味着更快发散。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先预测：λ=633 nm、w₀=0.50 mm，瑞利长度约多少？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现代光学拓展 · 实验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傅里叶光学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output\playwright\diagram-fou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6565392" cy="3008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后焦面首零点 |x₁|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mm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3464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中央亮斑全宽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mm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83480" y="4681728"/>
            <a:ext cx="1965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476402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孔径倒数 1/a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505663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mm⁻¹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88352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1645920"/>
            <a:ext cx="38221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2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U_f(x,y)∝𝓕{U₀(ξ,η)}；矩形孔一维零点 x₁≈λf/a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25512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解释现象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25512" y="4142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透镜后焦面把入射场的空间频率分量按角度展开，孔径函数的傅里叶变换决定衍射图。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875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先预测：λ=550 nm、f=200 mm、a=1.0 mm，中央斑半宽约多少？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23" name="Text 20">
            <a:hlinkClick r:id="rId2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Blender · Cycles 实体场景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双缝装置：把光程差与观察屏联系起来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assets\renders\double-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4752"/>
            <a:ext cx="8046720" cy="502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参数与屏幕纹理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69680" y="2103120"/>
            <a:ext cx="2697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 = 550 nm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= 0.25 mm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0.05 mm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1.50 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69680" y="4114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屏幕为解析干涉 × 衍射包络；可见光线为教学标记。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869680" y="5742432"/>
            <a:ext cx="269748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9015984" y="579729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Blender · Cycles 实体场景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折射界面：角度从法线开始量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assets\renders\lens-b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4752"/>
            <a:ext cx="8046720" cy="502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Snell 定律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69680" y="2103120"/>
            <a:ext cx="2697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n₁ = 1.00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n₂ = 1.52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θᵢ = 35.00°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θₜ = 22.17°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69680" y="4114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虚线标示界面法线。装置尺寸经过缩放；角关系来自 Snell 定律。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869680" y="5742432"/>
            <a:ext cx="269748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9015984" y="579729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Blender · Cycles 实体场景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偏振装置：振幅投影，再取平方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  <p:pic>
        <p:nvPicPr>
          <p:cNvPr id="7" name="Image 0" descr="D:\CodexWorkspace\archive-before-20260915\Documents\ChatGPT\Running talk\optics-course\assets\renders\polar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4752"/>
            <a:ext cx="8046720" cy="502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马吕斯定律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69680" y="2103120"/>
            <a:ext cx="2697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透光轴夹角 45°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振幅比 cos45°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/ I₀ = 0.50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69680" y="4114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I₀ 在第一片之后定义。电场波形的波长与振幅均放大显示。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869680" y="5742432"/>
            <a:ext cx="269748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9015984" y="579729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定量实验：用双缝条纹测波长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实验输入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缝距 d = (0.250 ± 0.002) mm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屏距 L = (2.00 ± 0.01) 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条纹间距 Δx = (5.06 ± 0.03) mm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1645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计算与单位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0116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 ≈ Δx d / L = 632.5 nm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相对标准不确定度约 1.11%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可报告为 (633 ± 7) nm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160520"/>
            <a:ext cx="10652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436168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uᵣ(λ) = √[uᵣ(Δx)² + uᵣ(d)² + uᵣ(L)²]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33272" y="49103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假设三个输入彼此独立，± 数值是同一口径的标准不确定度；近轴模型误差另行评估。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43800" y="5806440"/>
            <a:ext cx="397764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7690104" y="586130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打开互动实验  ↗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四个边界问题，检验是否真正理解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107899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全反射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743200" y="17099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玻璃 n=1.5 到空气，入射角从40°变到50°，传播折射光如何变化？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2642616"/>
            <a:ext cx="107899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072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有限缝宽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43200" y="2779776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同时把双缝间距与单缝宽度增大一倍，条纹间距和包络宽度怎样变化？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3712464"/>
            <a:ext cx="107899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7705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三偏振片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743200" y="3849624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首尾两片正交，在中间放置45°偏振片，I/I₀ 是多少？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4782312"/>
            <a:ext cx="107899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469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波片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743200" y="49194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α=45°，把相位延迟从90°变为180°，电场轨迹如何变化？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参考答案：每个结论都对应一个条件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40° → 50°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临界角约41.81°。40°存在传播折射光，50°发生全反射；第二介质仍可有倏逝场。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426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两种空间尺度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0837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近轴条纹间距 λL/d 减半，衍射包络半宽 λL/a 也减半。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76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0，也不是 1/2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142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相对于第一片之后的 I₀，透射率 cos²45° × cos²45° = 1/4。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910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圆变为直线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2760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90°时两分量等幅正交，轨迹为圆；180°时相位相反，轨迹成为直线。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把调参变成一份可以复查的实验记录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2697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先写出趋势，列明保持不变的条件。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84448" y="1920240"/>
            <a:ext cx="2697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767328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固定当前曲线，一次只改变一个参数。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83096" y="1920240"/>
            <a:ext cx="2697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665976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记录三个读数，导出数据与参数 JSON。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81744" y="1920240"/>
            <a:ext cx="2697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64624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564624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检查单位、极限与适用条件。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交付：一页实验卡 + 3 组参数 + 一张对照图 + 模型条件说明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公式来源与继续学习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OpenStax University Physics Vol.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几何光学、干涉、衍射与偏振的教材关系</a:t>
            </a:r>
            <a:endParaRPr lang="en-US" sz="14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822960" y="253288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https://openstax.org/books/university-physics-volume-3/pages/1-introduction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9535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OpenCourseWare · Optics 2.71 / Physics 8.03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31927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傅里叶光学、波片与场的表示</a:t>
            </a:r>
            <a:endParaRPr lang="en-US" sz="14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822960" y="38404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https://ocw.mit.edu/courses/2-71-optics-spring-2009/resources/lecture-notes/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26110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 Digital Library of Mathematical Functions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62686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贝塞尔函数定义与数值基准</a:t>
            </a:r>
            <a:endParaRPr lang="en-US" sz="140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822960" y="514807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https://dlmf.nist.gov/10.2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每个互动模块的“模型与来源”提供对应章节链接；课件讲解与绘图为重新编写。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 · 光学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B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使用边界：精确计算，需要合适的模型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光学实验室 · 可交互 / 可计算 / 可复现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本套内容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项常见核心实验 + 高斯光束、傅里叶光学入门；可调参数、曲线、模型条件与练习。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渲染与科学计算的分工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Blender 用于装置、材质、相机与空间呈现。干涉、衍射、偏振的数值由独立解析模型给出。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进一步扩展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厚透镜与像差、材料色散、晶体双折射的空间分束、菲涅耳近场、光学活性与非线性光学可按教材另行扩展。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806440"/>
            <a:ext cx="3840480" cy="365760"/>
          </a:xfrm>
          <a:prstGeom prst="rect">
            <a:avLst/>
          </a:prstGeom>
          <a:solidFill>
            <a:srgbClr val="2766CE"/>
          </a:solidFill>
          <a:ln w="12700">
            <a:solidFill>
              <a:srgbClr val="2766CE">
                <a:alpha val="0"/>
              </a:srgbClr>
            </a:solidFill>
            <a:prstDash val="solid"/>
          </a:ln>
        </p:spPr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969264" y="58613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返回互动实验室  ↗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大学物理光学 · 从光场到成像</dc:title>
  <dc:subject>交互实验与模型边界</dc:subject>
  <dc:creator>光学实验室</dc:creator>
  <cp:lastModifiedBy>光学实验室</cp:lastModifiedBy>
  <cp:revision>1</cp:revision>
  <dcterms:created xsi:type="dcterms:W3CDTF">2026-10-07T09:59:05Z</dcterms:created>
  <dcterms:modified xsi:type="dcterms:W3CDTF">2026-10-07T09:59:05Z</dcterms:modified>
</cp:coreProperties>
</file>